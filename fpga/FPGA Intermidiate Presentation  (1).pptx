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modernComment_107_657A0B67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8" r:id="rId6"/>
    <p:sldId id="263" r:id="rId7"/>
    <p:sldId id="264" r:id="rId8"/>
    <p:sldId id="258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41295E-4680-2B7B-A9AE-1A765E71D4EB}" name="Nancy Nelson" initials="NN" userId="S::n5nelson@uwaterloo.ca::42129715-28bd-4845-9956-5cafea6dbe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A0781E-B502-CF29-8BF6-EE034E89AB4D}" v="1051" dt="2025-09-29T18:05:45.256"/>
    <p1510:client id="{9FEBB218-BEC7-25C1-1576-74CAFF15D7CE}" v="275" dt="2025-09-29T19:34:34.9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omments/modernComment_107_657A0B6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4BB948-7F9F-4767-A3F1-7E01C5B29B7B}" authorId="{0841295E-4680-2B7B-A9AE-1A765E71D4EB}" created="2025-07-03T12:46:18.701">
    <pc:sldMkLst xmlns:pc="http://schemas.microsoft.com/office/powerpoint/2013/main/command">
      <pc:docMk/>
      <pc:sldMk cId="1702497127" sldId="263"/>
    </pc:sldMkLst>
    <p188:txBody>
      <a:bodyPr/>
      <a:lstStyle/>
      <a:p>
        <a:r>
          <a:rPr lang="en-US"/>
          <a:t>Need to add Gabe Ghrayeb. Will Punit be here??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781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6590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1498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047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9032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040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2282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8342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6715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3982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7807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3737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9654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2523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6796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92772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9047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71098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el.com/content/www/us/en/software-kit/849770/intel-quartus-prime-lite-edition-design-software-version-24-1-for-windows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657A0B67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1F3B5-F3FE-B7DB-AE65-CCFC2783F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48080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>
                <a:latin typeface="Aptos"/>
              </a:rPr>
              <a:t>If you have not already done so, please download the </a:t>
            </a:r>
            <a:r>
              <a:rPr lang="en-US" sz="2800" err="1">
                <a:latin typeface="Aptos"/>
              </a:rPr>
              <a:t>QUartus</a:t>
            </a:r>
            <a:r>
              <a:rPr lang="en-US" sz="2800">
                <a:latin typeface="Aptos"/>
              </a:rPr>
              <a:t> Prime Lite at:</a:t>
            </a:r>
            <a:br>
              <a:rPr lang="en-US" sz="2800" dirty="0">
                <a:latin typeface="Aptos"/>
              </a:rPr>
            </a:br>
            <a:br>
              <a:rPr lang="en-US" sz="2800" dirty="0">
                <a:latin typeface="Aptos"/>
              </a:rPr>
            </a:br>
            <a:r>
              <a:rPr lang="en-US" sz="2800" dirty="0">
                <a:latin typeface="Aptos"/>
                <a:ea typeface="+mj-lt"/>
                <a:cs typeface="+mj-lt"/>
                <a:hlinkClick r:id="rId2"/>
              </a:rPr>
              <a:t>https://www.intel.com/content/www/us/en/software-kit/849770/intel-quartus-prime-lite-edition-design-software-version-24-1-for-windows</a:t>
            </a:r>
            <a:r>
              <a:rPr lang="en-US" sz="2800" dirty="0">
                <a:latin typeface="Aptos"/>
                <a:hlinkClick r:id="rId2"/>
              </a:rPr>
              <a:t>.html</a:t>
            </a:r>
            <a:br>
              <a:rPr lang="en-US" sz="2800" dirty="0">
                <a:latin typeface="Aptos"/>
              </a:rPr>
            </a:br>
            <a:br>
              <a:rPr lang="en-US" sz="2800" dirty="0">
                <a:latin typeface="Aptos"/>
              </a:rPr>
            </a:br>
            <a:r>
              <a:rPr lang="en-US" sz="2800">
                <a:latin typeface="Aptos"/>
              </a:rPr>
              <a:t>Go to Learn course page to find this link </a:t>
            </a:r>
            <a:endParaRPr lang="en-US"/>
          </a:p>
          <a:p>
            <a:endParaRPr lang="en-CA" noProof="0"/>
          </a:p>
        </p:txBody>
      </p:sp>
    </p:spTree>
    <p:extLst>
      <p:ext uri="{BB962C8B-B14F-4D97-AF65-F5344CB8AC3E}">
        <p14:creationId xmlns:p14="http://schemas.microsoft.com/office/powerpoint/2010/main" val="2319455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6A275-A34A-2F18-D792-3685FDE1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E7992-7459-336C-91E5-B75AAC11B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4808070"/>
          </a:xfrm>
        </p:spPr>
        <p:txBody>
          <a:bodyPr/>
          <a:lstStyle/>
          <a:p>
            <a:r>
              <a:rPr lang="en-CA" dirty="0"/>
              <a:t>FPGA </a:t>
            </a:r>
            <a:r>
              <a:rPr lang="en-CA" dirty="0" err="1"/>
              <a:t>Intermidiate</a:t>
            </a:r>
            <a:r>
              <a:rPr lang="en-CA" dirty="0"/>
              <a:t> </a:t>
            </a:r>
            <a:r>
              <a:rPr lang="en-CA" dirty="0">
                <a:latin typeface="TW Cen MT"/>
              </a:rPr>
              <a:t>Workshop</a:t>
            </a:r>
            <a:br>
              <a:rPr lang="en-CA" dirty="0"/>
            </a:br>
            <a:br>
              <a:rPr lang="en-CA" dirty="0"/>
            </a:br>
            <a:endParaRPr lang="en-CA"/>
          </a:p>
          <a:p>
            <a:endParaRPr lang="en-CA" noProof="0"/>
          </a:p>
        </p:txBody>
      </p:sp>
    </p:spTree>
    <p:extLst>
      <p:ext uri="{BB962C8B-B14F-4D97-AF65-F5344CB8AC3E}">
        <p14:creationId xmlns:p14="http://schemas.microsoft.com/office/powerpoint/2010/main" val="3828766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79CCF-5FBB-7874-D152-99CDBD1F9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41720"/>
            <a:ext cx="9905999" cy="5316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CA" noProof="0" dirty="0"/>
              <a:t>Orion Bruckman (EE)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r>
              <a:rPr lang="en-CA" noProof="0" dirty="0"/>
              <a:t>15 years as a lab instructor, 10 years of R&amp;D in computer and consumer electronics fields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endParaRPr lang="en-CA" noProof="0"/>
          </a:p>
          <a:p>
            <a:r>
              <a:rPr lang="en-CA" noProof="0" dirty="0"/>
              <a:t>Dr. Chris Rennick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r>
              <a:rPr lang="en-CA" noProof="0" dirty="0"/>
              <a:t>Purveyor of all Engineering knowledge 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endParaRPr lang="en-CA" noProof="0"/>
          </a:p>
          <a:p>
            <a:r>
              <a:rPr lang="en-CA" dirty="0"/>
              <a:t>Gabe </a:t>
            </a:r>
            <a:r>
              <a:rPr lang="en-CA" dirty="0" err="1"/>
              <a:t>Ghrayeb</a:t>
            </a:r>
            <a:endParaRPr lang="en-CA" dirty="0"/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r>
              <a:rPr lang="en-CA" dirty="0"/>
              <a:t>IDEAs Clinic Co-op, 4A Nanotechnology Engineering</a:t>
            </a:r>
            <a:endParaRPr lang="en-CA" noProof="0" dirty="0"/>
          </a:p>
          <a:p>
            <a:endParaRPr lang="en-CA" noProof="0"/>
          </a:p>
          <a:p>
            <a:pPr marL="0" indent="0">
              <a:buNone/>
            </a:pPr>
            <a:endParaRPr lang="en-CA" noProof="0" dirty="0">
              <a:latin typeface="Tw Cen MT"/>
            </a:endParaRPr>
          </a:p>
          <a:p>
            <a:pPr marL="314325" indent="0">
              <a:lnSpc>
                <a:spcPct val="100000"/>
              </a:lnSpc>
              <a:spcBef>
                <a:spcPts val="0"/>
              </a:spcBef>
              <a:buNone/>
            </a:pPr>
            <a:endParaRPr lang="en-CA" noProof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9C91FD-BC01-04DD-539E-73E49B6F4AB1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24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noProof="0"/>
              <a:t>Today’s Teaching Team</a:t>
            </a:r>
          </a:p>
        </p:txBody>
      </p:sp>
    </p:spTree>
    <p:extLst>
      <p:ext uri="{BB962C8B-B14F-4D97-AF65-F5344CB8AC3E}">
        <p14:creationId xmlns:p14="http://schemas.microsoft.com/office/powerpoint/2010/main" val="17024971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06B066-387F-1FB2-A08C-8059D365F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7" name="Rectangle 1066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noProof="0"/>
          </a:p>
        </p:txBody>
      </p:sp>
      <p:pic>
        <p:nvPicPr>
          <p:cNvPr id="1069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6="http://schemas.microsoft.com/office/drawing/2014/main" xmlns:p14="http://schemas.microsoft.com/office/powerpoint/2010/main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84B63-8740-6F78-16B9-648EACD11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42720"/>
            <a:ext cx="4130565" cy="47718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sz="2000" dirty="0"/>
              <a:t>If you have already completed Day 1, we are now going to learn how to render visuals over HDMI</a:t>
            </a:r>
            <a:endParaRPr lang="en-CA" sz="2000" noProof="0" dirty="0"/>
          </a:p>
          <a:p>
            <a:r>
              <a:rPr lang="en-CA" sz="2000" dirty="0"/>
              <a:t>Using Logic to create video games </a:t>
            </a:r>
          </a:p>
        </p:txBody>
      </p: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72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3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4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5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6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7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8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9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0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1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2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3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4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5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6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7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8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9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0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1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2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3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4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5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6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7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8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12FB283-2D57-D951-CE94-607281297FDE}"/>
              </a:ext>
            </a:extLst>
          </p:cNvPr>
          <p:cNvSpPr txBox="1"/>
          <p:nvPr/>
        </p:nvSpPr>
        <p:spPr>
          <a:xfrm>
            <a:off x="6582029" y="5218601"/>
            <a:ext cx="5393097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CA" sz="1400" noProof="0" dirty="0"/>
              <a:t>From: </a:t>
            </a:r>
            <a:r>
              <a:rPr lang="en-CA" sz="1400" noProof="0" dirty="0">
                <a:ea typeface="+mn-lt"/>
                <a:cs typeface="+mn-lt"/>
              </a:rPr>
              <a:t>https://</a:t>
            </a:r>
            <a:r>
              <a:rPr lang="en-CA" sz="1400" dirty="0">
                <a:ea typeface="+mn-lt"/>
                <a:cs typeface="+mn-lt"/>
              </a:rPr>
              <a:t>play.google</a:t>
            </a:r>
            <a:r>
              <a:rPr lang="en-CA" sz="1400" noProof="0" dirty="0">
                <a:ea typeface="+mn-lt"/>
                <a:cs typeface="+mn-lt"/>
              </a:rPr>
              <a:t>.</a:t>
            </a:r>
            <a:r>
              <a:rPr lang="en-CA" sz="1400" dirty="0">
                <a:ea typeface="+mn-lt"/>
                <a:cs typeface="+mn-lt"/>
              </a:rPr>
              <a:t>com/store</a:t>
            </a:r>
            <a:r>
              <a:rPr lang="en-CA" sz="1400" noProof="0" dirty="0">
                <a:ea typeface="+mn-lt"/>
                <a:cs typeface="+mn-lt"/>
              </a:rPr>
              <a:t>/</a:t>
            </a:r>
            <a:r>
              <a:rPr lang="en-CA" sz="1400" dirty="0">
                <a:ea typeface="+mn-lt"/>
                <a:cs typeface="+mn-lt"/>
              </a:rPr>
              <a:t>apps</a:t>
            </a:r>
            <a:r>
              <a:rPr lang="en-CA" sz="1400" noProof="0" dirty="0">
                <a:ea typeface="+mn-lt"/>
                <a:cs typeface="+mn-lt"/>
              </a:rPr>
              <a:t>/</a:t>
            </a:r>
            <a:r>
              <a:rPr lang="en-CA" sz="1400" dirty="0">
                <a:ea typeface="+mn-lt"/>
                <a:cs typeface="+mn-lt"/>
              </a:rPr>
              <a:t>details?id=net.bubik.pong&amp;hl=en_AU</a:t>
            </a:r>
            <a:endParaRPr lang="en-CA" sz="1400" noProof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FBBF34-D9C8-17DE-776C-536F42B54EB3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24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The Next </a:t>
            </a:r>
            <a:r>
              <a:rPr lang="en-CA" dirty="0" err="1"/>
              <a:t>LEvel</a:t>
            </a:r>
            <a:endParaRPr lang="en-CA" dirty="0"/>
          </a:p>
        </p:txBody>
      </p:sp>
      <p:pic>
        <p:nvPicPr>
          <p:cNvPr id="2" name="Picture 1" descr="A black and white screen with white numbers&#10;&#10;AI-generated content may be incorrect.">
            <a:extLst>
              <a:ext uri="{FF2B5EF4-FFF2-40B4-BE49-F238E27FC236}">
                <a16:creationId xmlns:a16="http://schemas.microsoft.com/office/drawing/2014/main" id="{3FFE676F-B2A7-BF55-8716-F1808E4ED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953" y="1883093"/>
            <a:ext cx="5575935" cy="308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5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81C2-AB9F-CC02-362E-6A56E379A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24202"/>
          </a:xfrm>
        </p:spPr>
        <p:txBody>
          <a:bodyPr/>
          <a:lstStyle/>
          <a:p>
            <a:r>
              <a:rPr lang="en-CA" dirty="0">
                <a:latin typeface="TW Cen MT"/>
              </a:rPr>
              <a:t>Learning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A160A-0A60-13B2-7C65-D766C9213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850" y="1447800"/>
            <a:ext cx="7860348" cy="50787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dirty="0">
                <a:ea typeface="+mn-lt"/>
                <a:cs typeface="+mn-lt"/>
              </a:rPr>
              <a:t>Understand and use </a:t>
            </a:r>
            <a:r>
              <a:rPr lang="en-CA" b="1" dirty="0">
                <a:ea typeface="+mn-lt"/>
                <a:cs typeface="+mn-lt"/>
              </a:rPr>
              <a:t>licensed IP cores</a:t>
            </a:r>
            <a:r>
              <a:rPr lang="en-CA" dirty="0">
                <a:ea typeface="+mn-lt"/>
                <a:cs typeface="+mn-lt"/>
              </a:rPr>
              <a:t> in Quartus Prime.</a:t>
            </a:r>
            <a:endParaRPr lang="en-CA" dirty="0"/>
          </a:p>
          <a:p>
            <a:r>
              <a:rPr lang="en-CA" dirty="0">
                <a:ea typeface="+mn-lt"/>
                <a:cs typeface="+mn-lt"/>
              </a:rPr>
              <a:t>Learn to write </a:t>
            </a:r>
            <a:r>
              <a:rPr lang="en-CA" b="1" dirty="0">
                <a:ea typeface="+mn-lt"/>
                <a:cs typeface="+mn-lt"/>
              </a:rPr>
              <a:t>reusable logic</a:t>
            </a:r>
            <a:r>
              <a:rPr lang="en-CA" dirty="0">
                <a:ea typeface="+mn-lt"/>
                <a:cs typeface="+mn-lt"/>
              </a:rPr>
              <a:t> and integrate multiple components.</a:t>
            </a:r>
            <a:endParaRPr lang="en-CA" dirty="0"/>
          </a:p>
          <a:p>
            <a:r>
              <a:rPr lang="en-CA" dirty="0">
                <a:ea typeface="+mn-lt"/>
                <a:cs typeface="+mn-lt"/>
              </a:rPr>
              <a:t>Use </a:t>
            </a:r>
            <a:r>
              <a:rPr lang="en-CA" b="1" dirty="0">
                <a:ea typeface="+mn-lt"/>
                <a:cs typeface="+mn-lt"/>
              </a:rPr>
              <a:t>conditional assignments</a:t>
            </a:r>
            <a:r>
              <a:rPr lang="en-CA" dirty="0">
                <a:ea typeface="+mn-lt"/>
                <a:cs typeface="+mn-lt"/>
              </a:rPr>
              <a:t> effectively in VHDL.</a:t>
            </a:r>
            <a:endParaRPr lang="en-CA" dirty="0"/>
          </a:p>
          <a:p>
            <a:r>
              <a:rPr lang="en-CA" dirty="0">
                <a:ea typeface="+mn-lt"/>
                <a:cs typeface="+mn-lt"/>
              </a:rPr>
              <a:t>Design and implement </a:t>
            </a:r>
            <a:r>
              <a:rPr lang="en-CA" b="1" dirty="0">
                <a:ea typeface="+mn-lt"/>
                <a:cs typeface="+mn-lt"/>
              </a:rPr>
              <a:t>finite state machines (FSMs)</a:t>
            </a:r>
            <a:r>
              <a:rPr lang="en-CA" dirty="0">
                <a:ea typeface="+mn-lt"/>
                <a:cs typeface="+mn-lt"/>
              </a:rPr>
              <a:t> in a hardware context.</a:t>
            </a:r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>
              <a:buNone/>
            </a:pPr>
            <a:endParaRPr lang="en-CA" noProof="0"/>
          </a:p>
        </p:txBody>
      </p:sp>
    </p:spTree>
    <p:extLst>
      <p:ext uri="{BB962C8B-B14F-4D97-AF65-F5344CB8AC3E}">
        <p14:creationId xmlns:p14="http://schemas.microsoft.com/office/powerpoint/2010/main" val="2700692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D4CC6-BEF6-B4D2-A0AC-C20EE327E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70304-7081-1FC5-6EB2-A6488DD7A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CA" sz="720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7662817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B87D8ED0D12C4BB412CCADF24856D9" ma:contentTypeVersion="22" ma:contentTypeDescription="Create a new document." ma:contentTypeScope="" ma:versionID="b1cc1c752841891c41f7bed8b6583311">
  <xsd:schema xmlns:xsd="http://www.w3.org/2001/XMLSchema" xmlns:xs="http://www.w3.org/2001/XMLSchema" xmlns:p="http://schemas.microsoft.com/office/2006/metadata/properties" xmlns:ns2="e7dfc8fa-bf2c-40a2-9de2-5ccba9e04138" xmlns:ns3="5f0a85ad-4c26-4cbd-bedb-381aa63fc72b" targetNamespace="http://schemas.microsoft.com/office/2006/metadata/properties" ma:root="true" ma:fieldsID="e01ad39419231970904f7036ce5b8066" ns2:_="" ns3:_="">
    <xsd:import namespace="e7dfc8fa-bf2c-40a2-9de2-5ccba9e04138"/>
    <xsd:import namespace="5f0a85ad-4c26-4cbd-bedb-381aa63fc7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Info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dfc8fa-bf2c-40a2-9de2-5ccba9e041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Info" ma:index="26" nillable="true" ma:displayName="Info" ma:format="Dropdown" ma:internalName="Info">
      <xsd:simpleType>
        <xsd:restriction base="dms:Text">
          <xsd:maxLength value="255"/>
        </xsd:restriction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a85ad-4c26-4cbd-bedb-381aa63fc72b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c01c6572-da1a-41a4-a317-7ee31b7f5865}" ma:internalName="TaxCatchAll" ma:showField="CatchAllData" ma:web="5f0a85ad-4c26-4cbd-bedb-381aa63fc7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dfc8fa-bf2c-40a2-9de2-5ccba9e04138">
      <Terms xmlns="http://schemas.microsoft.com/office/infopath/2007/PartnerControls"/>
    </lcf76f155ced4ddcb4097134ff3c332f>
    <Info xmlns="e7dfc8fa-bf2c-40a2-9de2-5ccba9e04138" xsi:nil="true"/>
    <TaxCatchAll xmlns="5f0a85ad-4c26-4cbd-bedb-381aa63fc72b" xsi:nil="true"/>
  </documentManagement>
</p:properties>
</file>

<file path=customXml/itemProps1.xml><?xml version="1.0" encoding="utf-8"?>
<ds:datastoreItem xmlns:ds="http://schemas.openxmlformats.org/officeDocument/2006/customXml" ds:itemID="{75B1BCDD-DD3B-4CEA-BF44-20450E52A01E}">
  <ds:schemaRefs>
    <ds:schemaRef ds:uri="5f0a85ad-4c26-4cbd-bedb-381aa63fc72b"/>
    <ds:schemaRef ds:uri="e7dfc8fa-bf2c-40a2-9de2-5ccba9e0413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4372434-5B24-4D4F-85CE-CF432E1502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3691E0-79D6-49B0-806F-B4817F45AECC}">
  <ds:schemaRefs>
    <ds:schemaRef ds:uri="5f0a85ad-4c26-4cbd-bedb-381aa63fc72b"/>
    <ds:schemaRef ds:uri="addff108-7f21-4f9a-a0bb-436c410cd06e"/>
    <ds:schemaRef ds:uri="e7dfc8fa-bf2c-40a2-9de2-5ccba9e04138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Circuit</vt:lpstr>
      <vt:lpstr>If you have not already done so, please download the QUartus Prime Lite at:  https://www.intel.com/content/www/us/en/software-kit/849770/intel-quartus-prime-lite-edition-design-software-version-24-1-for-windows.html  Go to Learn course page to find this link  </vt:lpstr>
      <vt:lpstr>FPGA Intermidiate Workshop   </vt:lpstr>
      <vt:lpstr>PowerPoint Presentation</vt:lpstr>
      <vt:lpstr>PowerPoint Presentation</vt:lpstr>
      <vt:lpstr>Learning objectives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Orion Bruckman</dc:creator>
  <cp:revision>319</cp:revision>
  <dcterms:created xsi:type="dcterms:W3CDTF">2025-07-02T14:40:46Z</dcterms:created>
  <dcterms:modified xsi:type="dcterms:W3CDTF">2025-09-29T19:39:38Z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0x01010004B87D8ED0D12C4BB412CCADF24856D9</vt:lpwstr>
  </property>
  <property fmtid="{D5CDD505-2E9C-101B-9397-08002B2CF9AE}" pid="3" name="MediaServiceImageTags">
    <vt:lpwstr/>
  </property>
</Properties>
</file>
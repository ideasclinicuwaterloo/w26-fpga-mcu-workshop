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7_657A0B6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8" r:id="rId6"/>
    <p:sldId id="263" r:id="rId7"/>
    <p:sldId id="264" r:id="rId8"/>
    <p:sldId id="258" r:id="rId9"/>
    <p:sldId id="260" r:id="rId10"/>
    <p:sldId id="259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41295E-4680-2B7B-A9AE-1A765E71D4EB}" name="Nancy Nelson" initials="NN" userId="S::n5nelson@uwaterloo.ca::42129715-28bd-4845-9956-5cafea6dbe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1B2C72-B392-8183-9E37-047335318552}" v="3" dt="2025-09-29T18:20:23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61B2C72-B392-8183-9E37-047335318552}"/>
    <pc:docChg chg="modSld">
      <pc:chgData name="" userId="" providerId="" clId="Web-{761B2C72-B392-8183-9E37-047335318552}" dt="2025-09-29T18:16:11.156" v="0" actId="20577"/>
      <pc:docMkLst>
        <pc:docMk/>
      </pc:docMkLst>
      <pc:sldChg chg="modSp">
        <pc:chgData name="" userId="" providerId="" clId="Web-{761B2C72-B392-8183-9E37-047335318552}" dt="2025-09-29T18:16:11.156" v="0" actId="20577"/>
        <pc:sldMkLst>
          <pc:docMk/>
          <pc:sldMk cId="2319455848" sldId="256"/>
        </pc:sldMkLst>
        <pc:spChg chg="mod">
          <ac:chgData name="" userId="" providerId="" clId="Web-{761B2C72-B392-8183-9E37-047335318552}" dt="2025-09-29T18:16:11.156" v="0" actId="20577"/>
          <ac:spMkLst>
            <pc:docMk/>
            <pc:sldMk cId="2319455848" sldId="256"/>
            <ac:spMk id="2" creationId="{2971F3B5-F3FE-B7DB-AE65-CCFC2783F493}"/>
          </ac:spMkLst>
        </pc:spChg>
      </pc:sldChg>
    </pc:docChg>
  </pc:docChgLst>
  <pc:docChgLst>
    <pc:chgData name="Ian Jinzo Macpherson" userId="S::ijmacphe@uwaterloo.ca::1136d496-3cf7-4133-8842-ea25b02e6057" providerId="AD" clId="Web-{761B2C72-B392-8183-9E37-047335318552}"/>
    <pc:docChg chg="modSld">
      <pc:chgData name="Ian Jinzo Macpherson" userId="S::ijmacphe@uwaterloo.ca::1136d496-3cf7-4133-8842-ea25b02e6057" providerId="AD" clId="Web-{761B2C72-B392-8183-9E37-047335318552}" dt="2025-09-29T18:20:23.712" v="1" actId="20577"/>
      <pc:docMkLst>
        <pc:docMk/>
      </pc:docMkLst>
      <pc:sldChg chg="modSp">
        <pc:chgData name="Ian Jinzo Macpherson" userId="S::ijmacphe@uwaterloo.ca::1136d496-3cf7-4133-8842-ea25b02e6057" providerId="AD" clId="Web-{761B2C72-B392-8183-9E37-047335318552}" dt="2025-09-29T18:20:23.712" v="1" actId="20577"/>
        <pc:sldMkLst>
          <pc:docMk/>
          <pc:sldMk cId="2319455848" sldId="256"/>
        </pc:sldMkLst>
        <pc:spChg chg="mod">
          <ac:chgData name="Ian Jinzo Macpherson" userId="S::ijmacphe@uwaterloo.ca::1136d496-3cf7-4133-8842-ea25b02e6057" providerId="AD" clId="Web-{761B2C72-B392-8183-9E37-047335318552}" dt="2025-09-29T18:20:23.712" v="1" actId="20577"/>
          <ac:spMkLst>
            <pc:docMk/>
            <pc:sldMk cId="2319455848" sldId="256"/>
            <ac:spMk id="2" creationId="{2971F3B5-F3FE-B7DB-AE65-CCFC2783F493}"/>
          </ac:spMkLst>
        </pc:spChg>
      </pc:sldChg>
    </pc:docChg>
  </pc:docChgLst>
</pc:chgInfo>
</file>

<file path=ppt/comments/modernComment_107_657A0B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4BB948-7F9F-4767-A3F1-7E01C5B29B7B}" authorId="{0841295E-4680-2B7B-A9AE-1A765E71D4EB}" created="2025-07-03T12:46:18.701">
    <pc:sldMkLst xmlns:pc="http://schemas.microsoft.com/office/powerpoint/2013/main/command">
      <pc:docMk/>
      <pc:sldMk cId="1702497127" sldId="263"/>
    </pc:sldMkLst>
    <p188:txBody>
      <a:bodyPr/>
      <a:lstStyle/>
      <a:p>
        <a:r>
          <a:rPr lang="en-US"/>
          <a:t>Need to add Gabe Ghrayeb. Will Punit be here??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81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59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49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047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03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40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28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3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71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98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7807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737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654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523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796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277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904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7109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www/us/en/software-kit/849770/intel-quartus-prime-lite-edition-design-software-version-24-1-for-windows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657A0B6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F3B5-F3FE-B7DB-AE65-CCFC2783F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/>
          <a:lstStyle/>
          <a:p>
            <a:r>
              <a:rPr lang="en-US" sz="2800" dirty="0">
                <a:latin typeface="Aptos"/>
              </a:rPr>
              <a:t>If you have not already done so, please download the </a:t>
            </a:r>
            <a:r>
              <a:rPr lang="en-US" sz="2800" err="1">
                <a:latin typeface="Aptos"/>
              </a:rPr>
              <a:t>QUartus</a:t>
            </a:r>
            <a:r>
              <a:rPr lang="en-US" sz="2800" dirty="0">
                <a:latin typeface="Aptos"/>
              </a:rPr>
              <a:t> Prime Lite at:</a:t>
            </a: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r>
              <a:rPr lang="en-US" sz="2800" u="sng" cap="none" dirty="0">
                <a:latin typeface="Aptos"/>
                <a:hlinkClick r:id="rId2"/>
              </a:rPr>
              <a:t>https://www.intel.com/content/www/us/en/software-kit/849770/intel-quartus-prime-lite-edition-design-software-version-24-1-for-windows.html</a:t>
            </a:r>
            <a:br>
              <a:rPr lang="en-US" sz="2800" u="sng" dirty="0">
                <a:latin typeface="Aptos"/>
              </a:rPr>
            </a:br>
            <a:br>
              <a:rPr lang="en-US" sz="2800" u="sng" dirty="0">
                <a:latin typeface="Aptos"/>
              </a:rPr>
            </a:br>
            <a:r>
              <a:rPr lang="en-US" sz="2800" dirty="0">
                <a:latin typeface="Aptos"/>
              </a:rPr>
              <a:t>Go to Learn course page to find this link</a:t>
            </a:r>
            <a:endParaRPr lang="en-CA" sz="2800">
              <a:latin typeface="Aptos"/>
            </a:endParaRPr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31945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A275-A34A-2F18-D792-3685FDE1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7992-7459-336C-91E5-B75AAC11B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/>
          <a:lstStyle/>
          <a:p>
            <a:r>
              <a:rPr lang="en-CA" noProof="0" dirty="0"/>
              <a:t>VHDL Workshop Introduction</a:t>
            </a:r>
            <a:br>
              <a:rPr lang="en-CA"/>
            </a:br>
            <a:br>
              <a:rPr lang="en-CA"/>
            </a:br>
            <a:endParaRPr lang="en-CA"/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382876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79CCF-5FBB-7874-D152-99CDBD1F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1720"/>
            <a:ext cx="9905999" cy="5316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Orion Bruckman (EE)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15 years as a lab instructor, 10 years of R&amp;D in computer and consumer electronics fields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noProof="0" dirty="0"/>
              <a:t>Dr. Chris Rennick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Purveyor of all Engineering knowledge 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dirty="0"/>
              <a:t>Gabe </a:t>
            </a:r>
            <a:r>
              <a:rPr lang="en-CA" dirty="0" err="1"/>
              <a:t>Ghrayeb</a:t>
            </a:r>
            <a:endParaRPr lang="en-CA" dirty="0"/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dirty="0"/>
              <a:t>IDEAs Clinic Co-op, 4A Nanotechnology Engineering</a:t>
            </a:r>
            <a:endParaRPr lang="en-CA" noProof="0" dirty="0"/>
          </a:p>
          <a:p>
            <a:endParaRPr lang="en-CA" noProof="0"/>
          </a:p>
          <a:p>
            <a:r>
              <a:rPr lang="en-CA" noProof="0" dirty="0"/>
              <a:t>Karnan Thamilchelvan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dirty="0">
                <a:latin typeface="TW Cen MT"/>
              </a:rPr>
              <a:t>IDEAs Clinic Co-op</a:t>
            </a:r>
            <a:r>
              <a:rPr lang="en-CA" noProof="0" dirty="0">
                <a:latin typeface="TW Cen MT"/>
              </a:rPr>
              <a:t>,</a:t>
            </a:r>
            <a:r>
              <a:rPr lang="en-CA" dirty="0">
                <a:latin typeface="TW Cen MT"/>
              </a:rPr>
              <a:t> 3B Computer Engineering</a:t>
            </a:r>
            <a:endParaRPr lang="en-CA" noProof="0" dirty="0">
              <a:latin typeface="TW Cen MT"/>
            </a:endParaRPr>
          </a:p>
          <a:p>
            <a:pPr marL="314325" indent="0">
              <a:lnSpc>
                <a:spcPct val="100000"/>
              </a:lnSpc>
              <a:spcBef>
                <a:spcPts val="0"/>
              </a:spcBef>
              <a:buNone/>
            </a:pPr>
            <a:endParaRPr lang="en-CA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C91FD-BC01-04DD-539E-73E49B6F4AB1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noProof="0"/>
              <a:t>Today’s Teaching Team</a:t>
            </a:r>
          </a:p>
        </p:txBody>
      </p:sp>
    </p:spTree>
    <p:extLst>
      <p:ext uri="{BB962C8B-B14F-4D97-AF65-F5344CB8AC3E}">
        <p14:creationId xmlns:p14="http://schemas.microsoft.com/office/powerpoint/2010/main" val="17024971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6B066-387F-1FB2-A08C-8059D365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7" name="Rectangle 1066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/>
          </a:p>
        </p:txBody>
      </p:sp>
      <p:pic>
        <p:nvPicPr>
          <p:cNvPr id="10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p14="http://schemas.microsoft.com/office/powerpoint/2010/main" xmlns:a16="http://schemas.microsoft.com/office/drawing/2014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4B63-8740-6F78-16B9-648EACD11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4130565" cy="4771813"/>
          </a:xfrm>
        </p:spPr>
        <p:txBody>
          <a:bodyPr>
            <a:normAutofit/>
          </a:bodyPr>
          <a:lstStyle/>
          <a:p>
            <a:r>
              <a:rPr lang="en-CA" sz="2000" noProof="0"/>
              <a:t>Field Programmable Gate Arrays (FPGA) are flexible circuits “chips” that can be configured to act as almost any digital circuit. </a:t>
            </a:r>
          </a:p>
          <a:p>
            <a:pPr marL="0" indent="0">
              <a:buNone/>
            </a:pPr>
            <a:endParaRPr lang="en-CA" sz="2000" noProof="0"/>
          </a:p>
          <a:p>
            <a:r>
              <a:rPr lang="en-CA" sz="2000" noProof="0"/>
              <a:t>These “chips” can be run on a development board as you will be doing today or can be integrated into a larger electronics design.</a:t>
            </a:r>
          </a:p>
        </p:txBody>
      </p:sp>
      <p:pic>
        <p:nvPicPr>
          <p:cNvPr id="1028" name="Picture 4" descr="Meet FPGA High-Bandwidth Requirements with the Cyclone IV – HIGH-END FPGA  Distributor">
            <a:extLst>
              <a:ext uri="{FF2B5EF4-FFF2-40B4-BE49-F238E27FC236}">
                <a16:creationId xmlns:a16="http://schemas.microsoft.com/office/drawing/2014/main" id="{8E831E33-3BD5-548D-FB9A-657CB7A5CD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"/>
          <a:stretch>
            <a:fillRect/>
          </a:stretch>
        </p:blipFill>
        <p:spPr bwMode="auto">
          <a:xfrm>
            <a:off x="5305315" y="1799040"/>
            <a:ext cx="6820010" cy="342344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7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xmlns:p14="http://schemas.microsoft.com/office/powerpoint/2010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2FB283-2D57-D951-CE94-607281297FDE}"/>
              </a:ext>
            </a:extLst>
          </p:cNvPr>
          <p:cNvSpPr txBox="1"/>
          <p:nvPr/>
        </p:nvSpPr>
        <p:spPr>
          <a:xfrm>
            <a:off x="5855972" y="5283299"/>
            <a:ext cx="2703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A" sz="1400" noProof="0"/>
              <a:t>From: https://ebics.net/cyclone-iv/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FBBF34-D9C8-17DE-776C-536F42B54EB3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noProof="0"/>
              <a:t>What is an FPGA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A8C278-B8D2-22E5-896C-6A46E9685B7D}"/>
              </a:ext>
            </a:extLst>
          </p:cNvPr>
          <p:cNvSpPr/>
          <p:nvPr/>
        </p:nvSpPr>
        <p:spPr>
          <a:xfrm>
            <a:off x="6794205" y="1990725"/>
            <a:ext cx="2020186" cy="2030413"/>
          </a:xfrm>
          <a:prstGeom prst="ellipse">
            <a:avLst/>
          </a:prstGeom>
          <a:noFill/>
          <a:ln w="2286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1136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81C2-AB9F-CC02-362E-6A56E379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4202"/>
          </a:xfrm>
        </p:spPr>
        <p:txBody>
          <a:bodyPr/>
          <a:lstStyle/>
          <a:p>
            <a:r>
              <a:rPr lang="en-CA" noProof="0"/>
              <a:t>Inside an 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160A-0A60-13B2-7C65-D766C921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74800"/>
            <a:ext cx="7860348" cy="50787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noProof="0" dirty="0"/>
              <a:t>FPGA can implement almost any circuit by using configurable, interconnecting look-up tables (LUT). </a:t>
            </a:r>
          </a:p>
          <a:p>
            <a:endParaRPr lang="en-CA" sz="1200" noProof="0"/>
          </a:p>
          <a:p>
            <a:r>
              <a:rPr lang="en-CA" dirty="0"/>
              <a:t>A 4-input</a:t>
            </a:r>
            <a:r>
              <a:rPr lang="en-CA" noProof="0" dirty="0"/>
              <a:t> look-up table (LUT) </a:t>
            </a:r>
            <a:r>
              <a:rPr lang="en-CA" dirty="0"/>
              <a:t>is </a:t>
            </a:r>
            <a:r>
              <a:rPr lang="en-CA" noProof="0" dirty="0"/>
              <a:t>capable of implementing any 4-input logic function with </a:t>
            </a:r>
            <a:r>
              <a:rPr lang="en-CA" dirty="0"/>
              <a:t>memory</a:t>
            </a:r>
            <a:r>
              <a:rPr lang="en-CA" noProof="0" dirty="0"/>
              <a:t> to remember the inputs and outputs.</a:t>
            </a:r>
          </a:p>
          <a:p>
            <a:endParaRPr lang="en-CA" sz="1200"/>
          </a:p>
          <a:p>
            <a:r>
              <a:rPr lang="en-CA" dirty="0"/>
              <a:t>The FPGA family we are using have 25,000 to 301,000      4-input LUTs</a:t>
            </a:r>
          </a:p>
          <a:p>
            <a:pPr marL="0" indent="0">
              <a:buNone/>
            </a:pPr>
            <a:endParaRPr lang="en-CA" noProof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FA3FDA-9297-AB01-DAAD-209110CC1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674225"/>
              </p:ext>
            </p:extLst>
          </p:nvPr>
        </p:nvGraphicFramePr>
        <p:xfrm>
          <a:off x="9001760" y="618518"/>
          <a:ext cx="22352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476383608"/>
                    </a:ext>
                  </a:extLst>
                </a:gridCol>
                <a:gridCol w="317725">
                  <a:extLst>
                    <a:ext uri="{9D8B030D-6E8A-4147-A177-3AD203B41FA5}">
                      <a16:colId xmlns:a16="http://schemas.microsoft.com/office/drawing/2014/main" val="962724349"/>
                    </a:ext>
                  </a:extLst>
                </a:gridCol>
                <a:gridCol w="373155">
                  <a:extLst>
                    <a:ext uri="{9D8B030D-6E8A-4147-A177-3AD203B41FA5}">
                      <a16:colId xmlns:a16="http://schemas.microsoft.com/office/drawing/2014/main" val="90590186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205676850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558825153"/>
                    </a:ext>
                  </a:extLst>
                </a:gridCol>
              </a:tblGrid>
              <a:tr h="306493">
                <a:tc gridSpan="4">
                  <a:txBody>
                    <a:bodyPr/>
                    <a:lstStyle/>
                    <a:p>
                      <a:pPr algn="ctr"/>
                      <a:r>
                        <a:rPr lang="en-CA" sz="1600" noProof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noProof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232644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97051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 rowSpan="16">
                  <a:txBody>
                    <a:bodyPr/>
                    <a:lstStyle/>
                    <a:p>
                      <a:pPr algn="ctr"/>
                      <a:r>
                        <a:rPr lang="en-CA" sz="4800" noProof="0"/>
                        <a:t>You Decide!!</a:t>
                      </a:r>
                    </a:p>
                  </a:txBody>
                  <a:tcPr vert="vert" anchor="ctr"/>
                </a:tc>
                <a:extLst>
                  <a:ext uri="{0D108BD9-81ED-4DB2-BD59-A6C34878D82A}">
                    <a16:rowId xmlns:a16="http://schemas.microsoft.com/office/drawing/2014/main" val="4251273405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589357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59605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64022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495383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434607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430537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032619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221084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699975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534287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862101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179058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38065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493898"/>
                  </a:ext>
                </a:extLst>
              </a:tr>
              <a:tr h="306493"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noProof="0"/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38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69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0B8A-332A-06C8-8A1C-8F8E4863A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4202"/>
          </a:xfrm>
        </p:spPr>
        <p:txBody>
          <a:bodyPr/>
          <a:lstStyle/>
          <a:p>
            <a:r>
              <a:rPr lang="en-CA"/>
              <a:t>Who and Why use and FPGA</a:t>
            </a:r>
            <a:endParaRPr lang="en-CA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5A9F-7AB9-B16A-5207-E3E78169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9905999" cy="33641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Who uses FPGA? </a:t>
            </a:r>
            <a:r>
              <a:rPr lang="en-CA" noProof="0" dirty="0"/>
              <a:t>R&amp;D engineers</a:t>
            </a:r>
          </a:p>
          <a:p>
            <a:endParaRPr lang="en-CA" sz="1200" noProof="0"/>
          </a:p>
          <a:p>
            <a:r>
              <a:rPr lang="en-CA" noProof="0" dirty="0"/>
              <a:t>Why use an FPGA? </a:t>
            </a:r>
            <a:r>
              <a:rPr lang="en-CA" dirty="0"/>
              <a:t>When speed and flexibility are required. </a:t>
            </a:r>
            <a:r>
              <a:rPr lang="en-CA" noProof="0" dirty="0"/>
              <a:t>FPGAs are faster than software and cheaper, at low and medium volumes, than dedicated “computer chips.”</a:t>
            </a:r>
          </a:p>
          <a:p>
            <a:endParaRPr lang="en-CA" sz="1200" noProof="0"/>
          </a:p>
          <a:p>
            <a:r>
              <a:rPr lang="en-CA" noProof="0" dirty="0"/>
              <a:t>Examples: specialty </a:t>
            </a:r>
            <a:r>
              <a:rPr lang="en-CA" dirty="0"/>
              <a:t>circuits</a:t>
            </a:r>
            <a:r>
              <a:rPr lang="en-CA" noProof="0" dirty="0"/>
              <a:t> and prototyping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E2AC65-CE85-671E-DC36-E29CB9707744}"/>
              </a:ext>
            </a:extLst>
          </p:cNvPr>
          <p:cNvGrpSpPr/>
          <p:nvPr/>
        </p:nvGrpSpPr>
        <p:grpSpPr>
          <a:xfrm>
            <a:off x="1247738" y="5040602"/>
            <a:ext cx="8747760" cy="1198880"/>
            <a:chOff x="1615440" y="4693920"/>
            <a:chExt cx="8747760" cy="119888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465DC80-5E1C-BBDE-1925-26841E708EF5}"/>
                </a:ext>
              </a:extLst>
            </p:cNvPr>
            <p:cNvSpPr/>
            <p:nvPr/>
          </p:nvSpPr>
          <p:spPr>
            <a:xfrm>
              <a:off x="1615440" y="4714240"/>
              <a:ext cx="2255520" cy="1168400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u="sng" noProof="0"/>
                <a:t>Software</a:t>
              </a:r>
            </a:p>
            <a:p>
              <a:pPr algn="ctr"/>
              <a:r>
                <a:rPr lang="en-CA" noProof="0"/>
                <a:t>Most flexible </a:t>
              </a:r>
            </a:p>
            <a:p>
              <a:pPr algn="ctr"/>
              <a:r>
                <a:rPr lang="en-CA" noProof="0"/>
                <a:t>Slowest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6D87869-5E73-3A53-2635-798A290F1498}"/>
                </a:ext>
              </a:extLst>
            </p:cNvPr>
            <p:cNvSpPr/>
            <p:nvPr/>
          </p:nvSpPr>
          <p:spPr>
            <a:xfrm>
              <a:off x="4866640" y="4724400"/>
              <a:ext cx="2255520" cy="11684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u="sng" noProof="0"/>
                <a:t>FPGA</a:t>
              </a:r>
            </a:p>
            <a:p>
              <a:pPr algn="ctr"/>
              <a:r>
                <a:rPr lang="en-CA" noProof="0"/>
                <a:t>Medium flexible </a:t>
              </a:r>
            </a:p>
            <a:p>
              <a:pPr algn="ctr"/>
              <a:r>
                <a:rPr lang="en-CA" noProof="0"/>
                <a:t>Medium Speed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ADD104D-63D8-0A5C-2D03-83AD3B9B9927}"/>
                </a:ext>
              </a:extLst>
            </p:cNvPr>
            <p:cNvSpPr/>
            <p:nvPr/>
          </p:nvSpPr>
          <p:spPr>
            <a:xfrm>
              <a:off x="8107680" y="4693920"/>
              <a:ext cx="2255520" cy="1168400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u="sng" noProof="0"/>
                <a:t>Dedicated Circuits</a:t>
              </a:r>
            </a:p>
            <a:p>
              <a:pPr algn="ctr"/>
              <a:r>
                <a:rPr lang="en-CA" noProof="0"/>
                <a:t>Least flexible </a:t>
              </a:r>
            </a:p>
            <a:p>
              <a:pPr algn="ctr"/>
              <a:r>
                <a:rPr lang="en-CA" noProof="0"/>
                <a:t>Fastest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8C6FABD-8B1C-9ACF-3804-29E3626901C4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3870960" y="5298440"/>
              <a:ext cx="995680" cy="10160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782F2B9-521B-A025-6EBC-3AAA0BE6C079}"/>
                </a:ext>
              </a:extLst>
            </p:cNvPr>
            <p:cNvCxnSpPr/>
            <p:nvPr/>
          </p:nvCxnSpPr>
          <p:spPr>
            <a:xfrm>
              <a:off x="7122160" y="5298440"/>
              <a:ext cx="995680" cy="10160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8860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6A4F5-9C0D-EF81-A1F6-FD3AB55EF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9905999" cy="4348481"/>
          </a:xfrm>
        </p:spPr>
        <p:txBody>
          <a:bodyPr/>
          <a:lstStyle/>
          <a:p>
            <a:r>
              <a:rPr lang="en-CA" noProof="0"/>
              <a:t>While we often say we “program” and FPGA, actually we configure how an FPGA’s LUTs are connected.</a:t>
            </a:r>
          </a:p>
          <a:p>
            <a:endParaRPr lang="en-CA" noProof="0"/>
          </a:p>
          <a:p>
            <a:r>
              <a:rPr lang="en-CA"/>
              <a:t>The language we use to configure an FPGA is called a Hardware Description Language (HDL).</a:t>
            </a:r>
          </a:p>
          <a:p>
            <a:endParaRPr lang="en-CA" noProof="0"/>
          </a:p>
          <a:p>
            <a:r>
              <a:rPr lang="en-CA" noProof="0"/>
              <a:t>T</a:t>
            </a:r>
            <a:r>
              <a:rPr lang="en-CA"/>
              <a:t>he HDL we will be using is VHDL</a:t>
            </a:r>
            <a:endParaRPr lang="en-CA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08460F-74F9-97DD-B690-F51B00415C3C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How are you going to configure an </a:t>
            </a:r>
            <a:r>
              <a:rPr lang="en-CA" err="1"/>
              <a:t>Fpga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293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4B94-1F4A-CB5F-C2F5-2DB8B691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B933-53C1-8633-4153-7ACE65CBA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9905999" cy="5415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noProof="0" dirty="0"/>
              <a:t>Follow along with the instructions to </a:t>
            </a:r>
            <a:r>
              <a:rPr lang="en-CA" dirty="0"/>
              <a:t>write VHDL code</a:t>
            </a:r>
          </a:p>
          <a:p>
            <a:r>
              <a:rPr lang="en-CA" noProof="0" dirty="0"/>
              <a:t>Remember: VHDL looks </a:t>
            </a:r>
            <a:r>
              <a:rPr lang="en-CA" dirty="0"/>
              <a:t>a bit like a programing language, it has ‘if’ and ‘case’ statements but the result is not a program. It is an ‘wiring’ of the LUTs 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r>
              <a:rPr lang="en-CA" dirty="0"/>
              <a:t>Basic VHDL Structure</a:t>
            </a:r>
          </a:p>
          <a:p>
            <a:r>
              <a:rPr lang="en-CA" noProof="0" dirty="0"/>
              <a:t>You will create an </a:t>
            </a:r>
            <a:r>
              <a:rPr lang="en-CA" dirty="0"/>
              <a:t>Entity that have Inputs and Outputs  </a:t>
            </a:r>
          </a:p>
          <a:p>
            <a:r>
              <a:rPr lang="en-CA" dirty="0"/>
              <a:t>You will define how the Entity behaves by describing its’ Architecture. </a:t>
            </a:r>
          </a:p>
          <a:p>
            <a:endParaRPr lang="en-CA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A000E9-6ED9-CB11-67CE-EA30B57BC1E4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How to configure an </a:t>
            </a:r>
            <a:r>
              <a:rPr lang="en-CA" err="1"/>
              <a:t>Fpga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852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F6584-0891-4DEE-1850-EF0E41648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846" y="0"/>
            <a:ext cx="10175359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3600"/>
              <a:t>There is more to FPGA than this, but you should find this workshop a good introduction.</a:t>
            </a:r>
          </a:p>
        </p:txBody>
      </p:sp>
    </p:spTree>
    <p:extLst>
      <p:ext uri="{BB962C8B-B14F-4D97-AF65-F5344CB8AC3E}">
        <p14:creationId xmlns:p14="http://schemas.microsoft.com/office/powerpoint/2010/main" val="766865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4CC6-BEF6-B4D2-A0AC-C20EE327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70304-7081-1FC5-6EB2-A6488DD7A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72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66281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B87D8ED0D12C4BB412CCADF24856D9" ma:contentTypeVersion="22" ma:contentTypeDescription="Create a new document." ma:contentTypeScope="" ma:versionID="b1cc1c752841891c41f7bed8b6583311">
  <xsd:schema xmlns:xsd="http://www.w3.org/2001/XMLSchema" xmlns:xs="http://www.w3.org/2001/XMLSchema" xmlns:p="http://schemas.microsoft.com/office/2006/metadata/properties" xmlns:ns2="e7dfc8fa-bf2c-40a2-9de2-5ccba9e04138" xmlns:ns3="5f0a85ad-4c26-4cbd-bedb-381aa63fc72b" targetNamespace="http://schemas.microsoft.com/office/2006/metadata/properties" ma:root="true" ma:fieldsID="e01ad39419231970904f7036ce5b8066" ns2:_="" ns3:_="">
    <xsd:import namespace="e7dfc8fa-bf2c-40a2-9de2-5ccba9e04138"/>
    <xsd:import namespace="5f0a85ad-4c26-4cbd-bedb-381aa63fc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Info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fc8fa-bf2c-40a2-9de2-5ccba9e04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nfo" ma:index="26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a85ad-4c26-4cbd-bedb-381aa63fc72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01c6572-da1a-41a4-a317-7ee31b7f5865}" ma:internalName="TaxCatchAll" ma:showField="CatchAllData" ma:web="5f0a85ad-4c26-4cbd-bedb-381aa63fc7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dfc8fa-bf2c-40a2-9de2-5ccba9e04138">
      <Terms xmlns="http://schemas.microsoft.com/office/infopath/2007/PartnerControls"/>
    </lcf76f155ced4ddcb4097134ff3c332f>
    <Info xmlns="e7dfc8fa-bf2c-40a2-9de2-5ccba9e04138" xsi:nil="true"/>
    <TaxCatchAll xmlns="5f0a85ad-4c26-4cbd-bedb-381aa63fc72b" xsi:nil="true"/>
  </documentManagement>
</p:properties>
</file>

<file path=customXml/itemProps1.xml><?xml version="1.0" encoding="utf-8"?>
<ds:datastoreItem xmlns:ds="http://schemas.openxmlformats.org/officeDocument/2006/customXml" ds:itemID="{C4372434-5B24-4D4F-85CE-CF432E1502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B1BCDD-DD3B-4CEA-BF44-20450E52A01E}">
  <ds:schemaRefs>
    <ds:schemaRef ds:uri="5f0a85ad-4c26-4cbd-bedb-381aa63fc72b"/>
    <ds:schemaRef ds:uri="e7dfc8fa-bf2c-40a2-9de2-5ccba9e041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3691E0-79D6-49B0-806F-B4817F45AECC}">
  <ds:schemaRefs>
    <ds:schemaRef ds:uri="5f0a85ad-4c26-4cbd-bedb-381aa63fc72b"/>
    <ds:schemaRef ds:uri="addff108-7f21-4f9a-a0bb-436c410cd06e"/>
    <ds:schemaRef ds:uri="e7dfc8fa-bf2c-40a2-9de2-5ccba9e04138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Circuit</vt:lpstr>
      <vt:lpstr>If you have not already done so, please download the QUartus Prime Lite at:  https://www.intel.com/content/www/us/en/software-kit/849770/intel-quartus-prime-lite-edition-design-software-version-24-1-for-windows.html  Go to Learn course page to find this link </vt:lpstr>
      <vt:lpstr>VHDL Workshop Introduction   </vt:lpstr>
      <vt:lpstr>PowerPoint Presentation</vt:lpstr>
      <vt:lpstr>PowerPoint Presentation</vt:lpstr>
      <vt:lpstr>Inside an FPGA</vt:lpstr>
      <vt:lpstr>Who and Why use and FPGA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Orion Bruckman</dc:creator>
  <cp:revision>18</cp:revision>
  <dcterms:created xsi:type="dcterms:W3CDTF">2025-07-02T14:40:46Z</dcterms:created>
  <dcterms:modified xsi:type="dcterms:W3CDTF">2025-09-29T18:20:23Z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0x01010004B87D8ED0D12C4BB412CCADF24856D9</vt:lpwstr>
  </property>
  <property fmtid="{D5CDD505-2E9C-101B-9397-08002B2CF9AE}" pid="3" name="MediaServiceImageTags">
    <vt:lpwstr/>
  </property>
</Properties>
</file>